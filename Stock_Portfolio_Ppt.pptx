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85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463040"/>
            <a:ext cx="4206240" cy="420624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4480560"/>
            <a:ext cx="3108960" cy="310896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PROGRAM — CODEGNAN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Market Portfolio Tracker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MySQL-based system for tracking stock investments, transactions, and portfolio performance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12700">
            <a:solidFill>
              <a:srgbClr val="4A54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M.Pranav   |   Veera Badri   |   M.Yashwanth   |   Firoz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71516" cy="205740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30552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 real investment portfolio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3464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relational schema covering users, stocks, transactions, and daily prices.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68796" y="1874520"/>
            <a:ext cx="5271516" cy="205740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688836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8883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74636" y="2130552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buys, sells &amp; holdings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88836" y="283464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logged, and current holdings are derived automatically.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271516" cy="205740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07992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performance with SQL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1208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joins, views, window functions, and subqueries to answer real questions.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to build and analyze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98598" cy="3291840"/>
          </a:xfrm>
          <a:prstGeom prst="roundRect">
            <a:avLst>
              <a:gd name="adj" fmla="val 292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386459" y="25603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86459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38912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&amp; queries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2998" y="2194560"/>
            <a:ext cx="2498598" cy="3291840"/>
          </a:xfrm>
          <a:prstGeom prst="roundRect">
            <a:avLst>
              <a:gd name="adj" fmla="val 292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250817" y="25603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0817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50158" y="361188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Workbench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50158" y="438912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tables, linked by foreign keys, plus a derived view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17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 </a:t>
            </a:r>
            <a:r>
              <a:rPr lang="en-US" sz="12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(PK), name, email, created_at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17236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23076" y="1783080"/>
            <a:ext cx="5317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portfolios  </a:t>
            </a:r>
            <a:r>
              <a:rPr lang="en-US" sz="12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portfolio_id (PK), user_id (FK), portfolio_name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3076" y="2423160"/>
            <a:ext cx="5317236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5317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 </a:t>
            </a:r>
            <a:r>
              <a:rPr lang="en-US" sz="12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(PK), portfolio_id, stock_id (FK), type, qty, price, date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5317236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3076" y="2587752"/>
            <a:ext cx="5317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stocks  </a:t>
            </a:r>
            <a:r>
              <a:rPr lang="en-US" sz="12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stock_id (PK), ticker, company, sector, exchange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3076" y="3227832"/>
            <a:ext cx="5317236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92424"/>
            <a:ext cx="5317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  </a:t>
            </a:r>
            <a:r>
              <a:rPr lang="en-US" sz="12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(FK), stock_id (FK)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5317236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3076" y="3392424"/>
            <a:ext cx="5317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stock_prices  </a:t>
            </a:r>
            <a:r>
              <a:rPr lang="en-US" sz="12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price_id (PK), stock_id (FK), OHLC, volume, date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23076" y="4032504"/>
            <a:ext cx="5317236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97096"/>
            <a:ext cx="5317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dividends  </a:t>
            </a:r>
            <a:r>
              <a:rPr lang="en-US" sz="12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dividend_id (PK), stock_id (FK), amount, date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837176"/>
            <a:ext cx="5317236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3076" y="4197096"/>
            <a:ext cx="5317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transaction_audit  </a:t>
            </a:r>
            <a:r>
              <a:rPr lang="en-US" sz="12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audit_id (PK), transaction_id, action, timestamp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23076" y="4837176"/>
            <a:ext cx="5317236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93208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0932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holdings_view  </a:t>
            </a:r>
            <a:r>
              <a:rPr lang="en-US" sz="1250" i="1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derived from transactions; calculates live net quantity and average buy price per stock.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7 core tables relate, plus the derived holdings view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Rounded Rectangle 22"/>
          <p:cNvSpPr/>
          <p:nvPr/>
        </p:nvSpPr>
        <p:spPr>
          <a:xfrm>
            <a:off x="502920" y="1508760"/>
            <a:ext cx="3246120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1508760"/>
            <a:ext cx="3246120" cy="329184"/>
          </a:xfrm>
          <a:prstGeom prst="roundRect">
            <a:avLst>
              <a:gd name="adj" fmla="val 2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1673351"/>
            <a:ext cx="324612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" y="150876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1883663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user_id</a:t>
            </a:r>
            <a:r>
              <a:rPr sz="850" b="1">
                <a:solidFill>
                  <a:srgbClr val="1E2761"/>
                </a:solidFill>
                <a:latin typeface="Calibri"/>
              </a:rPr>
              <a:t>  PK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2103120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2322576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2542032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created_at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081527"/>
            <a:ext cx="3246120" cy="10789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2920" y="3081527"/>
            <a:ext cx="3246120" cy="329184"/>
          </a:xfrm>
          <a:prstGeom prst="roundRect">
            <a:avLst>
              <a:gd name="adj" fmla="val 2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3246120"/>
            <a:ext cx="324612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" y="3081527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portfolios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" y="3456431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portfolio_id</a:t>
            </a:r>
            <a:r>
              <a:rPr sz="850" b="1">
                <a:solidFill>
                  <a:srgbClr val="1E2761"/>
                </a:solidFill>
                <a:latin typeface="Calibri"/>
              </a:rPr>
              <a:t>  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3675887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3B4262"/>
                </a:solidFill>
                <a:latin typeface="Calibri"/>
              </a:rPr>
              <a:t>user_id</a:t>
            </a:r>
            <a:r>
              <a:rPr sz="850" b="1">
                <a:solidFill>
                  <a:srgbClr val="5B6584"/>
                </a:solidFill>
                <a:latin typeface="Calibri"/>
              </a:rPr>
              <a:t>  FK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3895344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portfolio_name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1508760"/>
            <a:ext cx="3246120" cy="8595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60520" y="1508760"/>
            <a:ext cx="3246120" cy="329184"/>
          </a:xfrm>
          <a:prstGeom prst="roundRect">
            <a:avLst>
              <a:gd name="adj" fmla="val 2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60520" y="1673351"/>
            <a:ext cx="324612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88536" y="150876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watchlist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6824" y="1883663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3B4262"/>
                </a:solidFill>
                <a:latin typeface="Calibri"/>
              </a:rPr>
              <a:t>user_id</a:t>
            </a:r>
            <a:r>
              <a:rPr sz="850" b="1">
                <a:solidFill>
                  <a:srgbClr val="5B6584"/>
                </a:solidFill>
                <a:latin typeface="Calibri"/>
              </a:rPr>
              <a:t>  FK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6824" y="2103120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3B4262"/>
                </a:solidFill>
                <a:latin typeface="Calibri"/>
              </a:rPr>
              <a:t>stock_id</a:t>
            </a:r>
            <a:r>
              <a:rPr sz="850" b="1">
                <a:solidFill>
                  <a:srgbClr val="5B6584"/>
                </a:solidFill>
                <a:latin typeface="Calibri"/>
              </a:rPr>
              <a:t>  FK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60520" y="2551176"/>
            <a:ext cx="3246120" cy="15179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160520" y="2551176"/>
            <a:ext cx="3246120" cy="329184"/>
          </a:xfrm>
          <a:prstGeom prst="roundRect">
            <a:avLst>
              <a:gd name="adj" fmla="val 2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160520" y="2715768"/>
            <a:ext cx="324612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88536" y="2551176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transactions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06824" y="2926079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transaction_id</a:t>
            </a:r>
            <a:r>
              <a:rPr sz="850" b="1">
                <a:solidFill>
                  <a:srgbClr val="1E2761"/>
                </a:solidFill>
                <a:latin typeface="Calibri"/>
              </a:rPr>
              <a:t>  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06824" y="3145535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3B4262"/>
                </a:solidFill>
                <a:latin typeface="Calibri"/>
              </a:rPr>
              <a:t>portfolio_id</a:t>
            </a:r>
            <a:r>
              <a:rPr sz="850" b="1">
                <a:solidFill>
                  <a:srgbClr val="5B6584"/>
                </a:solidFill>
                <a:latin typeface="Calibri"/>
              </a:rPr>
              <a:t>  FK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06824" y="3364991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3B4262"/>
                </a:solidFill>
                <a:latin typeface="Calibri"/>
              </a:rPr>
              <a:t>stock_id</a:t>
            </a:r>
            <a:r>
              <a:rPr sz="850" b="1">
                <a:solidFill>
                  <a:srgbClr val="5B6584"/>
                </a:solidFill>
                <a:latin typeface="Calibri"/>
              </a:rPr>
              <a:t>  FK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06824" y="3584448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type / qty / price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06824" y="3803904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date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60520" y="4251960"/>
            <a:ext cx="3246120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160520" y="4251960"/>
            <a:ext cx="3246120" cy="329184"/>
          </a:xfrm>
          <a:prstGeom prst="roundRect">
            <a:avLst>
              <a:gd name="adj" fmla="val 2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160520" y="4416552"/>
            <a:ext cx="324612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88536" y="425196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transaction_audit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06824" y="4626864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audit_id</a:t>
            </a:r>
            <a:r>
              <a:rPr sz="850" b="1">
                <a:solidFill>
                  <a:srgbClr val="1E2761"/>
                </a:solidFill>
                <a:latin typeface="Calibri"/>
              </a:rPr>
              <a:t>  PK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6824" y="4846320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3B4262"/>
                </a:solidFill>
                <a:latin typeface="Calibri"/>
              </a:rPr>
              <a:t>transaction_id</a:t>
            </a:r>
            <a:r>
              <a:rPr sz="850" b="1">
                <a:solidFill>
                  <a:srgbClr val="5B6584"/>
                </a:solidFill>
                <a:latin typeface="Calibri"/>
              </a:rPr>
              <a:t>  FK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06824" y="5065776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06824" y="5285232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timestamp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18120" y="1508760"/>
            <a:ext cx="3520440" cy="15179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7818120" y="1508760"/>
            <a:ext cx="3520440" cy="329184"/>
          </a:xfrm>
          <a:prstGeom prst="roundRect">
            <a:avLst>
              <a:gd name="adj" fmla="val 2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18120" y="1673351"/>
            <a:ext cx="352044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46136" y="1508760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stocks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64424" y="1883663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stock_id</a:t>
            </a:r>
            <a:r>
              <a:rPr sz="850" b="1">
                <a:solidFill>
                  <a:srgbClr val="1E2761"/>
                </a:solidFill>
                <a:latin typeface="Calibri"/>
              </a:rPr>
              <a:t>  PK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64424" y="2103120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ticker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64424" y="2322576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company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64424" y="254203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sector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64424" y="2761488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3B4262"/>
                </a:solidFill>
                <a:latin typeface="Calibri"/>
              </a:rPr>
              <a:t>exchange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818120" y="3209544"/>
            <a:ext cx="1673352" cy="10789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818120" y="3209544"/>
            <a:ext cx="1673352" cy="329184"/>
          </a:xfrm>
          <a:prstGeom prst="roundRect">
            <a:avLst>
              <a:gd name="adj" fmla="val 2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818120" y="3374136"/>
            <a:ext cx="1673352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46136" y="3209544"/>
            <a:ext cx="1490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stock_prices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64424" y="3584448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price_id</a:t>
            </a:r>
            <a:r>
              <a:rPr sz="750" b="1">
                <a:solidFill>
                  <a:srgbClr val="1E2761"/>
                </a:solidFill>
                <a:latin typeface="Calibri"/>
              </a:rPr>
              <a:t>  PK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64424" y="3803904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3B4262"/>
                </a:solidFill>
                <a:latin typeface="Calibri"/>
              </a:rPr>
              <a:t>stock_id</a:t>
            </a:r>
            <a:r>
              <a:rPr sz="750" b="1">
                <a:solidFill>
                  <a:srgbClr val="5B6584"/>
                </a:solidFill>
                <a:latin typeface="Calibri"/>
              </a:rPr>
              <a:t>  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64424" y="4023360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3B4262"/>
                </a:solidFill>
                <a:latin typeface="Calibri"/>
              </a:rPr>
              <a:t>OHLC / vol / date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65208" y="3209544"/>
            <a:ext cx="1673352" cy="10789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9665208" y="3209544"/>
            <a:ext cx="1673352" cy="329184"/>
          </a:xfrm>
          <a:prstGeom prst="roundRect">
            <a:avLst>
              <a:gd name="adj" fmla="val 2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665208" y="3374136"/>
            <a:ext cx="1673352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793224" y="3209544"/>
            <a:ext cx="1490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dividends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11512" y="3584448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dividend_id</a:t>
            </a:r>
            <a:r>
              <a:rPr sz="750" b="1">
                <a:solidFill>
                  <a:srgbClr val="1E2761"/>
                </a:solidFill>
                <a:latin typeface="Calibri"/>
              </a:rPr>
              <a:t>  PK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11512" y="3803904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1">
                <a:solidFill>
                  <a:srgbClr val="3B4262"/>
                </a:solidFill>
                <a:latin typeface="Calibri"/>
              </a:rPr>
              <a:t>stock_id</a:t>
            </a:r>
            <a:r>
              <a:rPr sz="750" b="1">
                <a:solidFill>
                  <a:srgbClr val="5B6584"/>
                </a:solidFill>
                <a:latin typeface="Calibri"/>
              </a:rPr>
              <a:t>  FK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11512" y="4023360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3B4262"/>
                </a:solidFill>
                <a:latin typeface="Calibri"/>
              </a:rPr>
              <a:t>amount / date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125980" y="2807208"/>
            <a:ext cx="0" cy="274319"/>
          </a:xfrm>
          <a:prstGeom prst="line">
            <a:avLst/>
          </a:prstGeom>
          <a:ln w="15875">
            <a:solidFill>
              <a:srgbClr val="9AA3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2091690" y="2772918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91690" y="3047237"/>
            <a:ext cx="68580" cy="685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7" name="Connector 86"/>
          <p:cNvCxnSpPr/>
          <p:nvPr/>
        </p:nvCxnSpPr>
        <p:spPr>
          <a:xfrm flipV="1">
            <a:off x="3749039" y="1938528"/>
            <a:ext cx="411481" cy="219456"/>
          </a:xfrm>
          <a:prstGeom prst="line">
            <a:avLst/>
          </a:prstGeom>
          <a:ln w="15875">
            <a:solidFill>
              <a:srgbClr val="9AA3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3714750" y="2123694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4126230" y="1904238"/>
            <a:ext cx="68580" cy="685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" name="Connector 89"/>
          <p:cNvCxnSpPr/>
          <p:nvPr/>
        </p:nvCxnSpPr>
        <p:spPr>
          <a:xfrm flipH="1" flipV="1">
            <a:off x="7406640" y="1938528"/>
            <a:ext cx="411480" cy="55961"/>
          </a:xfrm>
          <a:prstGeom prst="line">
            <a:avLst/>
          </a:prstGeom>
          <a:ln w="15875">
            <a:solidFill>
              <a:srgbClr val="9AA3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7783830" y="1960199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372350" y="1904238"/>
            <a:ext cx="68580" cy="685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" name="Connector 92"/>
          <p:cNvCxnSpPr/>
          <p:nvPr/>
        </p:nvCxnSpPr>
        <p:spPr>
          <a:xfrm flipV="1">
            <a:off x="3749039" y="3310128"/>
            <a:ext cx="411481" cy="310896"/>
          </a:xfrm>
          <a:prstGeom prst="line">
            <a:avLst/>
          </a:prstGeom>
          <a:ln w="15875">
            <a:solidFill>
              <a:srgbClr val="9AA3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3714750" y="3586734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126230" y="3275838"/>
            <a:ext cx="68580" cy="685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6" name="Connector 95"/>
          <p:cNvCxnSpPr/>
          <p:nvPr/>
        </p:nvCxnSpPr>
        <p:spPr>
          <a:xfrm flipH="1">
            <a:off x="7406640" y="2647188"/>
            <a:ext cx="411480" cy="662940"/>
          </a:xfrm>
          <a:prstGeom prst="line">
            <a:avLst/>
          </a:prstGeom>
          <a:ln w="15875">
            <a:solidFill>
              <a:srgbClr val="9AA3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7783830" y="2612898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7372350" y="3275838"/>
            <a:ext cx="68580" cy="685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/>
          <p:cNvCxnSpPr/>
          <p:nvPr/>
        </p:nvCxnSpPr>
        <p:spPr>
          <a:xfrm>
            <a:off x="5783579" y="4069080"/>
            <a:ext cx="0" cy="182880"/>
          </a:xfrm>
          <a:prstGeom prst="line">
            <a:avLst/>
          </a:prstGeom>
          <a:ln w="15875">
            <a:solidFill>
              <a:srgbClr val="9AA3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5749290" y="4034790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5749290" y="4217670"/>
            <a:ext cx="68580" cy="685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101"/>
          <p:cNvCxnSpPr/>
          <p:nvPr/>
        </p:nvCxnSpPr>
        <p:spPr>
          <a:xfrm flipH="1">
            <a:off x="8654796" y="3026664"/>
            <a:ext cx="113842" cy="182880"/>
          </a:xfrm>
          <a:prstGeom prst="line">
            <a:avLst/>
          </a:prstGeom>
          <a:ln w="15875">
            <a:solidFill>
              <a:srgbClr val="9AA3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8734348" y="2992374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8620506" y="3175254"/>
            <a:ext cx="68580" cy="685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5" name="Connector 104"/>
          <p:cNvCxnSpPr/>
          <p:nvPr/>
        </p:nvCxnSpPr>
        <p:spPr>
          <a:xfrm>
            <a:off x="10458450" y="3026664"/>
            <a:ext cx="43434" cy="182880"/>
          </a:xfrm>
          <a:prstGeom prst="line">
            <a:avLst/>
          </a:prstGeom>
          <a:ln w="15875">
            <a:solidFill>
              <a:srgbClr val="9AA3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10424160" y="2992374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0467594" y="3175254"/>
            <a:ext cx="68580" cy="685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502920" y="5806440"/>
            <a:ext cx="10698480" cy="50292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8952" y="580644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mbria"/>
              </a:rPr>
              <a:t>holdings_view</a:t>
            </a:r>
            <a:r>
              <a:rPr sz="900" b="1">
                <a:solidFill>
                  <a:srgbClr val="5B6584"/>
                </a:solidFill>
                <a:latin typeface="Calibri"/>
              </a:rPr>
              <a:t>   VIEW</a:t>
            </a:r>
            <a:r>
              <a:rPr sz="1150">
                <a:solidFill>
                  <a:srgbClr val="3B4262"/>
                </a:solidFill>
                <a:latin typeface="Calibri"/>
              </a:rPr>
              <a:t>     —  derived from transactions; calculates live net quantity and average buy price per stock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5783579" y="5550408"/>
            <a:ext cx="0" cy="256032"/>
          </a:xfrm>
          <a:prstGeom prst="line">
            <a:avLst/>
          </a:prstGeom>
          <a:ln w="15875">
            <a:solidFill>
              <a:srgbClr val="9AA3C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5749290" y="5772150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02920" y="65105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Calibri"/>
              </a:rPr>
              <a:t>PK  </a:t>
            </a:r>
            <a:r>
              <a:rPr sz="1000">
                <a:solidFill>
                  <a:srgbClr val="5B6584"/>
                </a:solidFill>
                <a:latin typeface="Calibri"/>
              </a:rPr>
              <a:t>Primary key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834639" y="65105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1">
                <a:solidFill>
                  <a:srgbClr val="5B6584"/>
                </a:solidFill>
                <a:latin typeface="Calibri"/>
              </a:rPr>
              <a:t>FK  </a:t>
            </a:r>
            <a:r>
              <a:rPr sz="1000">
                <a:solidFill>
                  <a:srgbClr val="5B6584"/>
                </a:solidFill>
                <a:latin typeface="Calibri"/>
              </a:rPr>
              <a:t>Foreign key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66359" y="65105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Calibri"/>
              </a:rPr>
              <a:t>- - -  </a:t>
            </a:r>
            <a:r>
              <a:rPr sz="1000">
                <a:solidFill>
                  <a:srgbClr val="5B6584"/>
                </a:solidFill>
                <a:latin typeface="Calibri"/>
              </a:rPr>
              <a:t>Derived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 Applied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47218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72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10405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Keys &amp; Constraints — </a:t>
            </a:r>
            <a:r>
              <a:rPr lang="en-US" sz="14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links back to users or stocks — enforcing referential integrity (CHECK on quantity &gt; 0, UNIQUE on ticker/date).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0487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50008"/>
            <a:ext cx="10405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— </a:t>
            </a:r>
            <a:r>
              <a:rPr lang="en-US" sz="14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holdings_view computes live portfolio positions from raw transactions, so nothing has to be manually recalculated.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82696"/>
            <a:ext cx="10405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 — </a:t>
            </a:r>
            <a:r>
              <a:rPr lang="en-US" sz="14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ranks stocks by performance; LAG() compares each price to the previous period for % returns.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702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15384"/>
            <a:ext cx="10405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Correlated Subqueries — </a:t>
            </a:r>
            <a:r>
              <a:rPr lang="en-US" sz="14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SELECTs fetch each stock's most recent price for valuation and P&amp;L calculations.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20293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202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148072"/>
            <a:ext cx="10405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 — </a:t>
            </a:r>
            <a:r>
              <a:rPr lang="en-US" sz="14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AFTER INSERT trigger on transactions automatically writes an audit log entry.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Queries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Portfolio Valuation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market value of every holding using the latest available price.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52544" y="1645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81144" y="18745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Unrealized P&amp;L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81144" y="24688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Profit/loss on open positions vs. average buy price.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6448" y="1645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85048" y="18745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Top Performers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85048" y="24688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ranked by return using RANK().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1605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Sector Allocation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548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value broken down by sector, as a percentage.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52544" y="3931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81144" y="41605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Monthly Returns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47548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Period-over-period % price change using LAG().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6448" y="3931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85048" y="416052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Transaction Audit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85048" y="475488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Auto-logged trail of every BUY/SELL via trigger.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Insight: Current Holdings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271516" cy="205740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84248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Value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held × latest close price, from the portfolio valuation query.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68796" y="1691640"/>
            <a:ext cx="5271516" cy="205740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688836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8883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28916" y="1984248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88836" y="265176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TCS shares, 20 INFY shares currently open (after 1 partial sell).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271516" cy="205740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97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315968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98348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current value: approx Rs. 34,469 across both positions.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68796" y="4023360"/>
            <a:ext cx="5271516" cy="205740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688836" y="4297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88836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28916" y="4315968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688836" y="4983480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positions show an unrealized loss vs. average buy price at the latest snapshot price — flagged by the P&amp;L query for review.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Value (Rs.)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391156" y="196596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2631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391156" y="2258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91156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13,533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14516" y="196596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2631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14516" y="2258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14516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20,936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391156" y="4434840"/>
            <a:ext cx="7406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91156" y="472744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 VALUE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91156" y="51206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34,469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9187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797939" y="2331720"/>
            <a:ext cx="8593074" cy="0"/>
          </a:xfrm>
          <a:prstGeom prst="line">
            <a:avLst/>
          </a:prstGeom>
          <a:noFill/>
          <a:ln w="25400">
            <a:solidFill>
              <a:srgbClr val="D8DD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77899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77899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Data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24985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users, portfolios, and transactions for richer, multi-user analysis.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2257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2257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12998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12998" y="3474720"/>
            <a:ext cx="24985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price inserts instead of manual snapshots (API or scheduled import).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206615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06615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77356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Realized P&amp;L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77356" y="3474720"/>
            <a:ext cx="24985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FIFO / weighted-average costing for accurate sell-side profit tracking.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070973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70973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41714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3474720"/>
            <a:ext cx="24985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B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schema to Power BI for live valuation and allocation visuals.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97680"/>
            <a:ext cx="4206240" cy="420624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-1828800"/>
            <a:ext cx="3291840" cy="329184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74320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Portfolio Tracker  —  M.Pranav  |  Veera Badri  |  M.Yashwanth  |  Firoz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846</Words>
  <Application>Microsoft Office PowerPoint</Application>
  <PresentationFormat>Widescreen</PresentationFormat>
  <Paragraphs>156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Veera Badri</cp:lastModifiedBy>
  <cp:revision>6</cp:revision>
  <dcterms:created xsi:type="dcterms:W3CDTF">2026-09-11T07:19:33Z</dcterms:created>
  <dcterms:modified xsi:type="dcterms:W3CDTF">2026-09-11T09:30:06Z</dcterms:modified>
</cp:coreProperties>
</file>